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58" r:id="rId3"/>
    <p:sldId id="257" r:id="rId4"/>
    <p:sldId id="260" r:id="rId5"/>
    <p:sldId id="262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D0BFA85-C930-4669-A235-C37C34CD2BE3}" v="10" dt="2026-04-24T15:58:23.28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3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216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F0401F-AD25-8906-EFA9-9095EE1333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69A794-7237-FC4A-D4EE-9545EC7709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2D8940-370F-5384-95BA-59EA1B8611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F3B32-E13F-401A-8D88-999BE8A7826F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B78C21-DB44-4EE5-C2B2-0FCF30A14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B22471-8F77-C808-10E3-53329BA34D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91E62-588F-4507-90F5-785370CF60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93992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E40CFA-3A34-CE86-D6C8-7727F61DF2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4213EB-16CB-5F51-9288-463BEEFD95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484167-FB0A-633B-0DBE-785CA2FF93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F3B32-E13F-401A-8D88-999BE8A7826F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56614B-46AD-A24A-A2DA-D79242B8B1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B71A02-985C-169B-0192-F7A71B5B4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91E62-588F-4507-90F5-785370CF60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36943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C7B8D9-7581-3F94-FC5B-6DD9A55BE0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84E3D0-E918-900B-5579-09555F4244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F4A4AA-ECBA-515E-0FC9-285E54B6CA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F3B32-E13F-401A-8D88-999BE8A7826F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74C462-7FBD-FA5C-2852-8D80597B07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00859B-E6E8-B83D-2514-5565A6834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91E62-588F-4507-90F5-785370CF60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36503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755673-745F-DDDB-02A5-1CC10F7E0B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3A09C6-EC8F-0ABE-A01B-2BDFBB4ADB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35303F-4E78-01F0-B1EB-0B075A4259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1CA6AD-C5AB-635F-0B49-F9B9A727DF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F3B32-E13F-401A-8D88-999BE8A7826F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7B157A-B0FE-AD1A-FCDD-0DC1A11844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09E77C-5923-9C9A-9F99-229B128BBE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91E62-588F-4507-90F5-785370CF60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90664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86BF0B-3734-622D-FF40-B79CE399F7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820BE6-4ACD-BDAB-25FD-4CC298C271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2B6D79-5F63-7943-BE7E-1315A97756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42EBAAA-EF45-5E14-2846-8EE66F6E4E2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6E03F0D-B562-5C84-F65D-7D763E7F1EE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5897912-28AE-B819-AB20-A53A59ADBA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F3B32-E13F-401A-8D88-999BE8A7826F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51C6154-93DC-BB97-8DC0-B3F3D88FF5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DE9D3F7-5274-929B-5747-3B49837C2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91E62-588F-4507-90F5-785370CF60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25547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37854-8681-EB50-390B-DD2A1B6BCB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AB0FD65-7742-05E7-00A5-DE8C3647A7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F3B32-E13F-401A-8D88-999BE8A7826F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C97B30-1381-B2A0-57E2-25BB820839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703A87A-72CC-9584-E5F6-D8788365D3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91E62-588F-4507-90F5-785370CF60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44212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00BFE52-512F-C76A-1493-B190E5BBD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F3B32-E13F-401A-8D88-999BE8A7826F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AD15BAF-AEBD-2E93-54F4-09DDA18A2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F030FE-1DC3-E8CC-79C2-5178003F29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91E62-588F-4507-90F5-785370CF60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76108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7E22B4-D51E-6B07-F73B-52C9256533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6F3913-FBA9-771E-84C7-06297C26E8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9FD0EC-6381-72F5-E9B7-118ABC642B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33D9CD-2F91-DFFD-07F6-A11241CE91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F3B32-E13F-401A-8D88-999BE8A7826F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84FC9F-C600-82BA-349C-4F57A1D4E7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53B8F1-38B3-43FD-DEE1-B1E17D3C84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91E62-588F-4507-90F5-785370CF60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09927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7266EC-F1A8-0DA6-FA27-DC160465E0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7946770-484B-EA95-3DD9-2401A96D2A2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8CF732-5061-C0AD-00CD-297ECEA828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8DE39C-09BD-FD5D-3BF2-1C1B68EB58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F3B32-E13F-401A-8D88-999BE8A7826F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D2BCC4-48B2-210F-3721-D8D1BAE714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4F7667-569B-92E8-B334-829EBAAA0D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91E62-588F-4507-90F5-785370CF60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63104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DB6DF-56E6-D686-21E4-735109530B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DF666F0-90C0-0E03-DAEC-74C9CE081B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29869F-A839-825C-3FF0-215339EEE4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F3B32-E13F-401A-8D88-999BE8A7826F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1A97B4-C0FE-7D39-B769-DAE86C8F2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2AB985-8151-2781-5A7B-07128828B3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91E62-588F-4507-90F5-785370CF60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90858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E66E94-E1EA-21F5-E552-170BF889ABA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DD4A2E7-DCF0-2E37-9E67-2F0D74909C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3E28B7-7C59-99A9-051D-60777186C6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F3B32-E13F-401A-8D88-999BE8A7826F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940EE4-A7BD-6DF7-3B53-77CBA4A204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FA6990-4F21-7437-5C49-BD2FFC140A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91E62-588F-4507-90F5-785370CF60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99703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FC37FB3-C349-2850-F942-CD63CD596A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B2BF05-1384-8D5A-6D37-400B751546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7CBD7-D4A2-1E22-4BFA-8F30275383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FF3B32-E13F-401A-8D88-999BE8A7826F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4AF44C-E1D3-BC3E-5E5D-498D896D17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4B0445-6D4A-0B82-61F7-18DEDA3F7C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F91E62-588F-4507-90F5-785370CF60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8603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C790BE2-4E4F-4AAF-81A2-4A6F4885E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28B54C3-B57B-472A-B96E-1FCB67093D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0"/>
            <a:ext cx="12191999" cy="685800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rgbClr val="000000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DB3C429-F8DA-49B9-AF84-21996FCF7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-4"/>
            <a:ext cx="12192000" cy="6402581"/>
          </a:xfrm>
          <a:prstGeom prst="rect">
            <a:avLst/>
          </a:prstGeom>
          <a:gradFill>
            <a:gsLst>
              <a:gs pos="1000">
                <a:schemeClr val="accent1">
                  <a:lumMod val="75000"/>
                  <a:alpha val="59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12088DD-B1AD-40E0-8B86-1D87A2CCD9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63054" y="-2653923"/>
            <a:ext cx="6858001" cy="12165846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rgbClr val="000000">
                  <a:alpha val="28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4C9F2B0-1044-46EB-8AEB-C3BFFDE6C2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94763" y="0"/>
            <a:ext cx="6096001" cy="6858000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chemeClr val="accent1">
                  <a:lumMod val="75000"/>
                  <a:alpha val="50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C395952-4E26-45A2-8756-2ADFD6E53C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-3"/>
            <a:ext cx="12182871" cy="6871922"/>
          </a:xfrm>
          <a:prstGeom prst="rect">
            <a:avLst/>
          </a:prstGeom>
          <a:gradFill>
            <a:gsLst>
              <a:gs pos="13000">
                <a:srgbClr val="000000">
                  <a:alpha val="35000"/>
                </a:srgbClr>
              </a:gs>
              <a:gs pos="99000">
                <a:schemeClr val="accent1">
                  <a:lumMod val="75000"/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4734BADF-9461-4621-B112-2D7BABEA7D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7713" y="4049"/>
            <a:ext cx="10216576" cy="4729040"/>
          </a:xfrm>
          <a:custGeom>
            <a:avLst/>
            <a:gdLst>
              <a:gd name="connsiteX0" fmla="*/ 0 w 10216576"/>
              <a:gd name="connsiteY0" fmla="*/ 0 h 4729040"/>
              <a:gd name="connsiteX1" fmla="*/ 10216576 w 10216576"/>
              <a:gd name="connsiteY1" fmla="*/ 0 h 4729040"/>
              <a:gd name="connsiteX2" fmla="*/ 10210268 w 10216576"/>
              <a:gd name="connsiteY2" fmla="*/ 124944 h 4729040"/>
              <a:gd name="connsiteX3" fmla="*/ 5108288 w 10216576"/>
              <a:gd name="connsiteY3" fmla="*/ 4729040 h 4729040"/>
              <a:gd name="connsiteX4" fmla="*/ 6309 w 10216576"/>
              <a:gd name="connsiteY4" fmla="*/ 124944 h 4729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216576" h="4729040">
                <a:moveTo>
                  <a:pt x="0" y="0"/>
                </a:moveTo>
                <a:lnTo>
                  <a:pt x="10216576" y="0"/>
                </a:lnTo>
                <a:lnTo>
                  <a:pt x="10210268" y="124944"/>
                </a:lnTo>
                <a:cubicBezTo>
                  <a:pt x="9947637" y="2710997"/>
                  <a:pt x="7763635" y="4729040"/>
                  <a:pt x="5108288" y="4729040"/>
                </a:cubicBezTo>
                <a:cubicBezTo>
                  <a:pt x="2452942" y="4729040"/>
                  <a:pt x="268937" y="2710997"/>
                  <a:pt x="6309" y="124944"/>
                </a:cubicBezTo>
                <a:close/>
              </a:path>
            </a:pathLst>
          </a:custGeom>
          <a:gradFill>
            <a:gsLst>
              <a:gs pos="7000">
                <a:schemeClr val="accent1">
                  <a:lumMod val="50000"/>
                  <a:alpha val="4000"/>
                </a:schemeClr>
              </a:gs>
              <a:gs pos="99000">
                <a:schemeClr val="accent1">
                  <a:alpha val="2400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64BAD0-4B8B-BF25-CBD2-5512226826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8786" y="455422"/>
            <a:ext cx="7259714" cy="121062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8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Box Plots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A63D13C-4926-4E1F-8B9F-90DF7C522C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075" y="2117419"/>
            <a:ext cx="4076700" cy="284797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2EF8900-BB8A-6252-9232-9E7AFD9B0244}"/>
              </a:ext>
            </a:extLst>
          </p:cNvPr>
          <p:cNvSpPr txBox="1"/>
          <p:nvPr/>
        </p:nvSpPr>
        <p:spPr>
          <a:xfrm>
            <a:off x="4860561" y="1977826"/>
            <a:ext cx="70881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It is a way to visualize numerical data based on a 5-way summary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F8CE9EC-036B-B55F-C744-1B06FF06BE59}"/>
              </a:ext>
            </a:extLst>
          </p:cNvPr>
          <p:cNvSpPr txBox="1"/>
          <p:nvPr/>
        </p:nvSpPr>
        <p:spPr>
          <a:xfrm>
            <a:off x="5007721" y="2390014"/>
            <a:ext cx="63455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Interquartile Range(IQR) or The Box:</a:t>
            </a:r>
          </a:p>
          <a:p>
            <a:endParaRPr lang="en-US" dirty="0"/>
          </a:p>
        </p:txBody>
      </p:sp>
      <p:sp>
        <p:nvSpPr>
          <p:cNvPr id="11" name="Rectangle 4">
            <a:extLst>
              <a:ext uri="{FF2B5EF4-FFF2-40B4-BE49-F238E27FC236}">
                <a16:creationId xmlns:a16="http://schemas.microsoft.com/office/drawing/2014/main" id="{55765880-6B1E-3EEF-1809-FE80F52834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0357" y="2713179"/>
            <a:ext cx="5650064" cy="17081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1st Quartile (Q</a:t>
            </a: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1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):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The 25th percentile. 25% of the data falls below this value.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3rd Quartile (Q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3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):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The 75th percentile. 75% of the data falls below this value.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dirty="0">
                <a:solidFill>
                  <a:schemeClr val="bg1"/>
                </a:solidFill>
                <a:latin typeface="Google Sans Text"/>
              </a:rPr>
              <a:t>Equation 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IQR = Q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3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- Q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1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Rectangle 5">
            <a:extLst>
              <a:ext uri="{FF2B5EF4-FFF2-40B4-BE49-F238E27FC236}">
                <a16:creationId xmlns:a16="http://schemas.microsoft.com/office/drawing/2014/main" id="{644EB0D3-AB4D-C773-C3CE-915E742F40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07721" y="5152664"/>
            <a:ext cx="7088133" cy="19851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"/>
              </a:rPr>
              <a:t>3.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"/>
              </a:rPr>
              <a:t>The Whiskers: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The dashed lines extending from the box are 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Whiskers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. They represent the spread of the data outside the middle 50%, typically extending to the furthest data point that is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not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considered an outlier.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Upper Whisker: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Q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3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+ (1.5 IQR)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Lower Whisker:</a:t>
            </a:r>
            <a:r>
              <a:rPr lang="en-US" altLang="en-US" dirty="0">
                <a:solidFill>
                  <a:schemeClr val="bg1"/>
                </a:solidFill>
                <a:latin typeface="Google Sans Text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Q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1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- (1.5 IQR)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F271ED2-9D8D-3386-1C0F-6B4F70D37E1A}"/>
              </a:ext>
            </a:extLst>
          </p:cNvPr>
          <p:cNvSpPr txBox="1"/>
          <p:nvPr/>
        </p:nvSpPr>
        <p:spPr>
          <a:xfrm>
            <a:off x="5007721" y="4436407"/>
            <a:ext cx="58945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2.</a:t>
            </a:r>
            <a:r>
              <a:rPr lang="en-US" b="1" dirty="0">
                <a:solidFill>
                  <a:schemeClr val="bg1"/>
                </a:solidFill>
              </a:rPr>
              <a:t> Median</a:t>
            </a:r>
            <a:r>
              <a:rPr lang="en-US" dirty="0">
                <a:solidFill>
                  <a:schemeClr val="bg1"/>
                </a:solidFill>
              </a:rPr>
              <a:t>: Thick black line (Q</a:t>
            </a:r>
            <a:r>
              <a:rPr lang="en-US" sz="1200" dirty="0">
                <a:solidFill>
                  <a:schemeClr val="bg1"/>
                </a:solidFill>
              </a:rPr>
              <a:t>2</a:t>
            </a:r>
            <a:r>
              <a:rPr lang="en-US" dirty="0">
                <a:solidFill>
                  <a:schemeClr val="bg1"/>
                </a:solidFill>
              </a:rPr>
              <a:t>) that represents the middle value of the dataset. Not to be confused with the mean. 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B4F2565-5673-97EA-C241-64604038D806}"/>
              </a:ext>
            </a:extLst>
          </p:cNvPr>
          <p:cNvSpPr txBox="1"/>
          <p:nvPr/>
        </p:nvSpPr>
        <p:spPr>
          <a:xfrm>
            <a:off x="355941" y="5494315"/>
            <a:ext cx="333234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Outliers</a:t>
            </a:r>
            <a:r>
              <a:rPr lang="en-US" dirty="0">
                <a:solidFill>
                  <a:schemeClr val="bg1"/>
                </a:solidFill>
              </a:rPr>
              <a:t> are above the upper whisker and below the lower whisker.</a:t>
            </a:r>
          </a:p>
        </p:txBody>
      </p:sp>
    </p:spTree>
    <p:extLst>
      <p:ext uri="{BB962C8B-B14F-4D97-AF65-F5344CB8AC3E}">
        <p14:creationId xmlns:p14="http://schemas.microsoft.com/office/powerpoint/2010/main" val="35916626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D5B1A1-2870-84BD-D403-8B223EC4D8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 dirty="0">
                <a:solidFill>
                  <a:srgbClr val="FFFFFF"/>
                </a:solidFill>
              </a:rPr>
              <a:t>One Hot Encoding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8752F1-A12F-8BD6-9D67-6C6A388CDB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6619" y="1225421"/>
            <a:ext cx="4929910" cy="595281"/>
          </a:xfrm>
        </p:spPr>
        <p:txBody>
          <a:bodyPr anchor="ctr">
            <a:noAutofit/>
          </a:bodyPr>
          <a:lstStyle/>
          <a:p>
            <a:pPr marL="0" indent="0">
              <a:buNone/>
            </a:pPr>
            <a:r>
              <a:rPr lang="en-US" sz="1600" dirty="0"/>
              <a:t>In order to avoid word data, and our data does </a:t>
            </a:r>
            <a:r>
              <a:rPr lang="en-US" sz="1600" b="1" dirty="0"/>
              <a:t>NOT NEED TO BE ORDERED</a:t>
            </a:r>
            <a:r>
              <a:rPr lang="en-US" sz="1600" dirty="0"/>
              <a:t>, we do the following: 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/>
              <a:t>0: No</a:t>
            </a:r>
          </a:p>
          <a:p>
            <a:pPr marL="0" indent="0">
              <a:buNone/>
            </a:pPr>
            <a:r>
              <a:rPr lang="en-US" sz="1600" dirty="0"/>
              <a:t>1: Yes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243324B-4F6F-7A28-240D-A30DF33F9C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4066991"/>
              </p:ext>
            </p:extLst>
          </p:nvPr>
        </p:nvGraphicFramePr>
        <p:xfrm>
          <a:off x="5700684" y="2781351"/>
          <a:ext cx="1668558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8558">
                  <a:extLst>
                    <a:ext uri="{9D8B030D-6E8A-4147-A177-3AD203B41FA5}">
                      <a16:colId xmlns:a16="http://schemas.microsoft.com/office/drawing/2014/main" val="113000802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Color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6889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46719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Green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68054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06272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Green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21857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9426801"/>
                  </a:ext>
                </a:extLst>
              </a:tr>
            </a:tbl>
          </a:graphicData>
        </a:graphic>
      </p:graphicFrame>
      <p:sp>
        <p:nvSpPr>
          <p:cNvPr id="5" name="Arrow: Right 4">
            <a:extLst>
              <a:ext uri="{FF2B5EF4-FFF2-40B4-BE49-F238E27FC236}">
                <a16:creationId xmlns:a16="http://schemas.microsoft.com/office/drawing/2014/main" id="{DE145C23-59CE-48F6-4D89-85A08AF25C97}"/>
              </a:ext>
            </a:extLst>
          </p:cNvPr>
          <p:cNvSpPr/>
          <p:nvPr/>
        </p:nvSpPr>
        <p:spPr>
          <a:xfrm>
            <a:off x="7432078" y="3768765"/>
            <a:ext cx="1165738" cy="41117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5CC81883-3C23-A745-97E3-D5E3B13369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5268657"/>
              </p:ext>
            </p:extLst>
          </p:nvPr>
        </p:nvGraphicFramePr>
        <p:xfrm>
          <a:off x="8660652" y="2834068"/>
          <a:ext cx="3452272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3068">
                  <a:extLst>
                    <a:ext uri="{9D8B030D-6E8A-4147-A177-3AD203B41FA5}">
                      <a16:colId xmlns:a16="http://schemas.microsoft.com/office/drawing/2014/main" val="428672888"/>
                    </a:ext>
                  </a:extLst>
                </a:gridCol>
                <a:gridCol w="863068">
                  <a:extLst>
                    <a:ext uri="{9D8B030D-6E8A-4147-A177-3AD203B41FA5}">
                      <a16:colId xmlns:a16="http://schemas.microsoft.com/office/drawing/2014/main" val="2222726813"/>
                    </a:ext>
                  </a:extLst>
                </a:gridCol>
                <a:gridCol w="863068">
                  <a:extLst>
                    <a:ext uri="{9D8B030D-6E8A-4147-A177-3AD203B41FA5}">
                      <a16:colId xmlns:a16="http://schemas.microsoft.com/office/drawing/2014/main" val="2389708487"/>
                    </a:ext>
                  </a:extLst>
                </a:gridCol>
                <a:gridCol w="863068">
                  <a:extLst>
                    <a:ext uri="{9D8B030D-6E8A-4147-A177-3AD203B41FA5}">
                      <a16:colId xmlns:a16="http://schemas.microsoft.com/office/drawing/2014/main" val="89054608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Color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Green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39197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15292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Green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9431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98510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Green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0911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47395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194536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D73B295-BAA4-17F1-A2C3-E71E56DB62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 dirty="0">
                <a:solidFill>
                  <a:srgbClr val="FFFFFF"/>
                </a:solidFill>
              </a:rPr>
              <a:t>Label Encoding </a:t>
            </a: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EFB9C7E0-EF51-7EA2-8B24-DB72A2B697AB}"/>
              </a:ext>
            </a:extLst>
          </p:cNvPr>
          <p:cNvSpPr/>
          <p:nvPr/>
        </p:nvSpPr>
        <p:spPr>
          <a:xfrm>
            <a:off x="7762004" y="3609843"/>
            <a:ext cx="1663103" cy="41117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AA6F9A79-24A6-2F54-5BAC-0F8829F279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2672079"/>
              </p:ext>
            </p:extLst>
          </p:nvPr>
        </p:nvGraphicFramePr>
        <p:xfrm>
          <a:off x="5777518" y="2727211"/>
          <a:ext cx="1668558" cy="25652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8558">
                  <a:extLst>
                    <a:ext uri="{9D8B030D-6E8A-4147-A177-3AD203B41FA5}">
                      <a16:colId xmlns:a16="http://schemas.microsoft.com/office/drawing/2014/main" val="1130008026"/>
                    </a:ext>
                  </a:extLst>
                </a:gridCol>
              </a:tblGrid>
              <a:tr h="658291">
                <a:tc>
                  <a:txBody>
                    <a:bodyPr/>
                    <a:lstStyle/>
                    <a:p>
                      <a:r>
                        <a:rPr lang="en-US" dirty="0"/>
                        <a:t>Education</a:t>
                      </a:r>
                    </a:p>
                    <a:p>
                      <a:r>
                        <a:rPr lang="en-US" dirty="0"/>
                        <a:t>Level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6889623"/>
                  </a:ext>
                </a:extLst>
              </a:tr>
              <a:tr h="381391">
                <a:tc>
                  <a:txBody>
                    <a:bodyPr/>
                    <a:lstStyle/>
                    <a:p>
                      <a:r>
                        <a:rPr lang="en-US" dirty="0"/>
                        <a:t>Bachelors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4671922"/>
                  </a:ext>
                </a:extLst>
              </a:tr>
              <a:tr h="381391">
                <a:tc>
                  <a:txBody>
                    <a:bodyPr/>
                    <a:lstStyle/>
                    <a:p>
                      <a:r>
                        <a:rPr lang="en-US" dirty="0"/>
                        <a:t>Masters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6805468"/>
                  </a:ext>
                </a:extLst>
              </a:tr>
              <a:tr h="381391">
                <a:tc>
                  <a:txBody>
                    <a:bodyPr/>
                    <a:lstStyle/>
                    <a:p>
                      <a:r>
                        <a:rPr lang="en-US" dirty="0"/>
                        <a:t>PhD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0627251"/>
                  </a:ext>
                </a:extLst>
              </a:tr>
              <a:tr h="381391">
                <a:tc>
                  <a:txBody>
                    <a:bodyPr/>
                    <a:lstStyle/>
                    <a:p>
                      <a:r>
                        <a:rPr lang="en-US" dirty="0"/>
                        <a:t>Masters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2185795"/>
                  </a:ext>
                </a:extLst>
              </a:tr>
              <a:tr h="381391">
                <a:tc>
                  <a:txBody>
                    <a:bodyPr/>
                    <a:lstStyle/>
                    <a:p>
                      <a:r>
                        <a:rPr lang="en-US" dirty="0"/>
                        <a:t>PhD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9426801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62E9B8D4-7231-D42E-88B0-F86892A83B15}"/>
              </a:ext>
            </a:extLst>
          </p:cNvPr>
          <p:cNvSpPr txBox="1"/>
          <p:nvPr/>
        </p:nvSpPr>
        <p:spPr>
          <a:xfrm>
            <a:off x="5965079" y="840757"/>
            <a:ext cx="579912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 have data (</a:t>
            </a:r>
            <a:r>
              <a:rPr lang="en-US" b="1" dirty="0"/>
              <a:t>strings or words)</a:t>
            </a:r>
            <a:r>
              <a:rPr lang="en-US" dirty="0"/>
              <a:t> that can be </a:t>
            </a:r>
            <a:r>
              <a:rPr lang="en-US" b="1" dirty="0"/>
              <a:t>ORDERED</a:t>
            </a:r>
            <a:r>
              <a:rPr lang="en-US" dirty="0"/>
              <a:t>!! Like a </a:t>
            </a:r>
            <a:r>
              <a:rPr lang="en-US" b="1" dirty="0"/>
              <a:t>ranking</a:t>
            </a:r>
            <a:r>
              <a:rPr lang="en-US" dirty="0"/>
              <a:t> system.</a:t>
            </a:r>
          </a:p>
          <a:p>
            <a:r>
              <a:rPr lang="en-US" dirty="0"/>
              <a:t>Otherwise, our machine learning  will face issues and gives us inaccurate results.</a:t>
            </a: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A443CF5B-C31D-E1CD-52D2-AEF9005F59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1697823"/>
              </p:ext>
            </p:extLst>
          </p:nvPr>
        </p:nvGraphicFramePr>
        <p:xfrm>
          <a:off x="9709124" y="2738393"/>
          <a:ext cx="1668558" cy="25652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8558">
                  <a:extLst>
                    <a:ext uri="{9D8B030D-6E8A-4147-A177-3AD203B41FA5}">
                      <a16:colId xmlns:a16="http://schemas.microsoft.com/office/drawing/2014/main" val="1130008026"/>
                    </a:ext>
                  </a:extLst>
                </a:gridCol>
              </a:tblGrid>
              <a:tr h="658291">
                <a:tc>
                  <a:txBody>
                    <a:bodyPr/>
                    <a:lstStyle/>
                    <a:p>
                      <a:r>
                        <a:rPr lang="en-US" dirty="0"/>
                        <a:t>Education</a:t>
                      </a:r>
                    </a:p>
                    <a:p>
                      <a:r>
                        <a:rPr lang="en-US" dirty="0"/>
                        <a:t>Level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6889623"/>
                  </a:ext>
                </a:extLst>
              </a:tr>
              <a:tr h="381391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4671922"/>
                  </a:ext>
                </a:extLst>
              </a:tr>
              <a:tr h="381391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6805468"/>
                  </a:ext>
                </a:extLst>
              </a:tr>
              <a:tr h="381391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0627251"/>
                  </a:ext>
                </a:extLst>
              </a:tr>
              <a:tr h="381391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2185795"/>
                  </a:ext>
                </a:extLst>
              </a:tr>
              <a:tr h="381391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94268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1885B394-713E-806E-A375-DBFDB85D531F}"/>
              </a:ext>
            </a:extLst>
          </p:cNvPr>
          <p:cNvSpPr txBox="1"/>
          <p:nvPr/>
        </p:nvSpPr>
        <p:spPr>
          <a:xfrm>
            <a:off x="5873025" y="5426386"/>
            <a:ext cx="521637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Here, the data stays on one table.</a:t>
            </a:r>
          </a:p>
          <a:p>
            <a:r>
              <a:rPr lang="en-US" dirty="0">
                <a:solidFill>
                  <a:srgbClr val="FF0000"/>
                </a:solidFill>
              </a:rPr>
              <a:t>NOTE: </a:t>
            </a:r>
            <a:r>
              <a:rPr lang="en-US" dirty="0"/>
              <a:t>THE CODE PICKS THE RANKS AND WE DON’T MANUALLY CHOOSE. EVEN IF IT IS NOT WHAT YOU MAY RANK IT, THE MACHINE KNOWS WHAT IS BETTER.</a:t>
            </a:r>
          </a:p>
        </p:txBody>
      </p:sp>
    </p:spTree>
    <p:extLst>
      <p:ext uri="{BB962C8B-B14F-4D97-AF65-F5344CB8AC3E}">
        <p14:creationId xmlns:p14="http://schemas.microsoft.com/office/powerpoint/2010/main" val="34473955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0E30439A-8A5B-46EC-8283-9B6B031D40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27"/>
            <a:ext cx="12192001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55521" y="-1720"/>
            <a:ext cx="11750040" cy="6840685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61000"/>
                </a:schemeClr>
              </a:gs>
              <a:gs pos="100000">
                <a:schemeClr val="accent1">
                  <a:alpha val="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6054" y="-1291"/>
            <a:ext cx="3608179" cy="685886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274173">
            <a:off x="6059728" y="779270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8E25F9-698C-54F2-97E8-0A36775046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7997" y="332532"/>
            <a:ext cx="6596245" cy="326852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48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Supervised ML Models 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314" y="4480038"/>
            <a:ext cx="12179371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53947E58-F088-49F1-A3D1-DEA690192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6967085" y="1632660"/>
            <a:ext cx="6857572" cy="3592258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D6E1B0F-F0A2-7C78-82F2-C38189A5F8D8}"/>
              </a:ext>
            </a:extLst>
          </p:cNvPr>
          <p:cNvSpPr txBox="1"/>
          <p:nvPr/>
        </p:nvSpPr>
        <p:spPr>
          <a:xfrm>
            <a:off x="842801" y="4559817"/>
            <a:ext cx="1050639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Supervised Learning </a:t>
            </a:r>
            <a:r>
              <a:rPr lang="en-US" sz="2000" dirty="0">
                <a:solidFill>
                  <a:schemeClr val="bg1"/>
                </a:solidFill>
              </a:rPr>
              <a:t>is a type of machine learning where the model is trained on a labeled dataset, meaning each input has a known output (y). The goal is for the model to learn the mapping between inputs and outputs so it can predict correct outputs for new, unseen data.</a:t>
            </a:r>
          </a:p>
        </p:txBody>
      </p:sp>
    </p:spTree>
    <p:extLst>
      <p:ext uri="{BB962C8B-B14F-4D97-AF65-F5344CB8AC3E}">
        <p14:creationId xmlns:p14="http://schemas.microsoft.com/office/powerpoint/2010/main" val="35204585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0EF0F30-9900-272D-9079-D90C37512C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B43751F-3E80-15F7-8158-E0199D68D8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130A34-F82E-28D0-8BEE-0EDDFEF23C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F52539B-39C4-0F70-3BD7-24EA8BFC3D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CC6AF0C-FC6D-E951-34A2-AA940404E0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E88CCC2-CCF8-73DD-BE16-E8FEDAF0C5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7E9C2B-613A-0CD8-3E4C-C350160AF9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Decision Trees (Classification)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A1DBF4-5C2B-EA9E-AE34-258FF8958B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1759738"/>
            <a:ext cx="9724031" cy="1468278"/>
          </a:xfrm>
        </p:spPr>
        <p:txBody>
          <a:bodyPr anchor="ctr">
            <a:normAutofit/>
          </a:bodyPr>
          <a:lstStyle/>
          <a:p>
            <a:r>
              <a:rPr lang="en-US" sz="2000" dirty="0"/>
              <a:t>A </a:t>
            </a:r>
            <a:r>
              <a:rPr lang="en-US" sz="2000" b="1" dirty="0"/>
              <a:t>decision tree</a:t>
            </a:r>
            <a:r>
              <a:rPr lang="en-US" sz="2000" dirty="0"/>
              <a:t> works by asking a </a:t>
            </a:r>
            <a:r>
              <a:rPr lang="en-US" sz="2000" b="1" dirty="0"/>
              <a:t>series of questions </a:t>
            </a:r>
            <a:r>
              <a:rPr lang="en-US" sz="2000" dirty="0"/>
              <a:t>about the data, like temperature or humidity, and splitting the data step by step until it reaches a final prediction.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A0F1E93-F332-DCAA-51E0-F3A10E67C186}"/>
              </a:ext>
            </a:extLst>
          </p:cNvPr>
          <p:cNvSpPr txBox="1"/>
          <p:nvPr/>
        </p:nvSpPr>
        <p:spPr>
          <a:xfrm>
            <a:off x="6406937" y="3160510"/>
            <a:ext cx="547412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b="1" dirty="0"/>
              <a:t>Root Node</a:t>
            </a:r>
            <a:r>
              <a:rPr lang="en-US" dirty="0"/>
              <a:t>: Our initial question (What is the weather?)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Then it </a:t>
            </a:r>
            <a:r>
              <a:rPr lang="en-US" b="1" dirty="0"/>
              <a:t>branches</a:t>
            </a:r>
            <a:r>
              <a:rPr lang="en-US" dirty="0"/>
              <a:t> of to possible answers(sunny ? Cloudy? Rainy?....)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/>
              <a:t>Internal Nodes</a:t>
            </a:r>
            <a:r>
              <a:rPr lang="en-US" dirty="0"/>
              <a:t>: The other questions( Is the humidity High or Low? …)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/>
              <a:t>Leaf Nodes</a:t>
            </a:r>
            <a:r>
              <a:rPr lang="en-US" dirty="0"/>
              <a:t>: Final Answers. 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F049D58-1E0A-0472-1B0E-1AF7E7F127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6646" y="3015566"/>
            <a:ext cx="4504492" cy="3118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04669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185B484-4EBB-397F-7F00-08166BAED2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Random Forest (Classification)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74BB90-A83B-3113-F704-B4DE16F7DA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9277" y="2146364"/>
            <a:ext cx="9724031" cy="774807"/>
          </a:xfrm>
        </p:spPr>
        <p:txBody>
          <a:bodyPr anchor="ctr">
            <a:noAutofit/>
          </a:bodyPr>
          <a:lstStyle/>
          <a:p>
            <a:r>
              <a:rPr lang="en-US" sz="1800" dirty="0"/>
              <a:t>Random forest uses </a:t>
            </a:r>
            <a:r>
              <a:rPr lang="en-US" sz="1800" b="1" dirty="0"/>
              <a:t>MORE THAN 1 decision trees</a:t>
            </a:r>
            <a:r>
              <a:rPr lang="en-US" sz="1800" dirty="0"/>
              <a:t> to provide a more precise and accurate result than 1 decision tree. There is a lower margin of error.</a:t>
            </a:r>
          </a:p>
          <a:p>
            <a:r>
              <a:rPr lang="en-US" sz="1800" dirty="0"/>
              <a:t>Instead of trusting one decision tree, we ask many trees and take the majority answer.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4180AD2-6AB0-115C-BA15-707277C86B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698" y="3274906"/>
            <a:ext cx="5448300" cy="305752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08DB9CF-5503-3276-CAF3-17E19878FF23}"/>
              </a:ext>
            </a:extLst>
          </p:cNvPr>
          <p:cNvSpPr txBox="1"/>
          <p:nvPr/>
        </p:nvSpPr>
        <p:spPr>
          <a:xfrm>
            <a:off x="6319574" y="4375618"/>
            <a:ext cx="55661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Each tree makes a prediction, and the final output is based on the majority vote. </a:t>
            </a:r>
          </a:p>
        </p:txBody>
      </p:sp>
    </p:spTree>
    <p:extLst>
      <p:ext uri="{BB962C8B-B14F-4D97-AF65-F5344CB8AC3E}">
        <p14:creationId xmlns:p14="http://schemas.microsoft.com/office/powerpoint/2010/main" val="31598759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348</TotalTime>
  <Words>526</Words>
  <Application>Microsoft Office PowerPoint</Application>
  <PresentationFormat>Widescreen</PresentationFormat>
  <Paragraphs>79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Aptos</vt:lpstr>
      <vt:lpstr>Aptos Display</vt:lpstr>
      <vt:lpstr>Arial</vt:lpstr>
      <vt:lpstr>Google Sans</vt:lpstr>
      <vt:lpstr>Google Sans Text</vt:lpstr>
      <vt:lpstr>Office Theme</vt:lpstr>
      <vt:lpstr>Box Plots</vt:lpstr>
      <vt:lpstr>One Hot Encoding</vt:lpstr>
      <vt:lpstr>Label Encoding </vt:lpstr>
      <vt:lpstr>Supervised ML Models </vt:lpstr>
      <vt:lpstr>Decision Trees (Classification)</vt:lpstr>
      <vt:lpstr>Random Forest (Classification)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James A.</dc:creator>
  <cp:lastModifiedBy>James A.</cp:lastModifiedBy>
  <cp:revision>2</cp:revision>
  <dcterms:created xsi:type="dcterms:W3CDTF">2026-04-17T13:11:39Z</dcterms:created>
  <dcterms:modified xsi:type="dcterms:W3CDTF">2026-04-24T17:05:44Z</dcterms:modified>
</cp:coreProperties>
</file>